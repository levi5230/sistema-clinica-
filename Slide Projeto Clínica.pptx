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62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66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53525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2701" y="1924094"/>
            <a:ext cx="42766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de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455199" y="2475525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Médica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854999" y="2903648"/>
            <a:ext cx="13716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434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D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Disciplina: </a:t>
            </a:r>
            <a:r>
              <a:rPr lang="en-US" sz="1000" dirty="0">
                <a:solidFill>
                  <a:srgbClr val="E8ED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Linguagens de Programação VI
</a:t>
            </a:r>
            <a:r>
              <a:rPr lang="en-US" sz="1000" b="1" dirty="0">
                <a:solidFill>
                  <a:srgbClr val="E8ED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Docente: </a:t>
            </a:r>
            <a:r>
              <a:rPr lang="en-US" sz="1000" dirty="0">
                <a:solidFill>
                  <a:srgbClr val="E8ED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Moyo Kanivengidio
</a:t>
            </a:r>
            <a:r>
              <a:rPr lang="en-US" sz="1000" b="1" dirty="0">
                <a:solidFill>
                  <a:srgbClr val="E8ED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Curso: </a:t>
            </a:r>
            <a:r>
              <a:rPr lang="en-US" sz="1000" dirty="0">
                <a:solidFill>
                  <a:srgbClr val="E8ED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2º Ano de Engenharia Informática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6629400" y="2891224"/>
            <a:ext cx="13716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467" y="99148"/>
            <a:ext cx="696062" cy="688591"/>
          </a:xfrm>
          <a:prstGeom prst="rect">
            <a:avLst/>
          </a:prstGeom>
        </p:spPr>
      </p:pic>
      <p:sp>
        <p:nvSpPr>
          <p:cNvPr id="14" name="Retângulo 13"/>
          <p:cNvSpPr/>
          <p:nvPr/>
        </p:nvSpPr>
        <p:spPr>
          <a:xfrm>
            <a:off x="531351" y="786776"/>
            <a:ext cx="7412477" cy="368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UNIVERSIDADE KIMPA VITA</a:t>
            </a:r>
            <a:endParaRPr lang="pt-PT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1174838" y="1187101"/>
            <a:ext cx="6096000" cy="68505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INSTITUTO POLITÉCNICO CURSO DE ENGENHARIA INFORMÁTICA</a:t>
            </a:r>
            <a:endParaRPr lang="pt-PT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e Contextualização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0299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do Sistema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9443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9992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 + DAO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858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9136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 (MER)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115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94960" y="1170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92024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20299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 Segurança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9443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29992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do Sistema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74904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858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4960" y="39136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 |  </a:t>
            </a:r>
            <a:r>
              <a:rPr lang="en-US" sz="900" dirty="0" smtClea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</a:t>
            </a: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VI  |  2/10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91440" cy="1280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médicas enfrentam desafios na administração diária: gestão de pacientes, agendamentos, prontuários e controlo de acesso. Este projecto desenvolve uma solução integrada em Java que automatiza e optimiza estes processos, garantindo eficiência e segurança no atendimento.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D1B3E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2"/>
                </a:solidFill>
              </a:rPr>
              <a:t>🎯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 Geral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63931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uma aplicação desktop </a:t>
            </a:r>
            <a:r>
              <a:rPr lang="en-US" sz="1000" dirty="0" smtClean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 aplicando as melhores práticas de engenharia de software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7432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D1B3E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 smtClean="0">
                <a:solidFill>
                  <a:schemeClr val="accent6"/>
                </a:solidFill>
              </a:rPr>
              <a:t>🏗</a:t>
            </a:r>
            <a:endParaRPr lang="en-US" sz="2400" dirty="0">
              <a:solidFill>
                <a:schemeClr val="accent6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91840" y="3291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363931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os padrões MVC e DAO com separação clara de responsabilidades entre camadas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7432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D1B3E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0000"/>
                </a:solidFill>
              </a:rPr>
              <a:t>🔒</a:t>
            </a:r>
          </a:p>
        </p:txBody>
      </p:sp>
      <p:sp>
        <p:nvSpPr>
          <p:cNvPr id="19" name="Text 17"/>
          <p:cNvSpPr/>
          <p:nvPr/>
        </p:nvSpPr>
        <p:spPr>
          <a:xfrm>
            <a:off x="6126480" y="3291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363931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com hash SHA-256, PreparedStatement contra SQL Injection e perfis de acesso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 |  </a:t>
            </a:r>
            <a:r>
              <a:rPr lang="en-US" sz="900" dirty="0" smtClea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</a:t>
            </a: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Programação VI  |  3/10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REQUISITOS DO SISTEMA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08760"/>
            <a:ext cx="2743200" cy="228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Pacientes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edição, inactivação e pesquisa por nome/CPF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508760"/>
            <a:ext cx="274320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07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CRM, especialidade e controlo de acesso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34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508760"/>
            <a:ext cx="2743200" cy="228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07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Consultas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8288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com verificação de conflito de horários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089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83280"/>
            <a:ext cx="2743200" cy="228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82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Prontuários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Diagnóstico, prescrição e histórico do paciente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1089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1089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383280"/>
            <a:ext cx="27432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182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Acesso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703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Admin, Médico e Recepcionista 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1089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383280"/>
            <a:ext cx="2743200" cy="2286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182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Relatórios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3703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por médico, pacientes activos e por status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 |  </a:t>
            </a:r>
            <a:r>
              <a:rPr lang="en-US" sz="900" dirty="0" smtClea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</a:t>
            </a: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Programação VI  |  4/10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  <p:bldP spid="18" grpId="0" animBg="1"/>
      <p:bldP spid="19" grpId="0" animBg="1"/>
      <p:bldP spid="23" grpId="0" animBg="1"/>
      <p:bldP spid="24" grpId="0" animBg="1"/>
      <p:bldP spid="28" grpId="0" animBg="1"/>
      <p:bldP spid="29" grpId="0" animBg="1"/>
      <p:bldP spid="33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chemeClr val="accent6">
              <a:lumMod val="75000"/>
              <a:alpha val="12000"/>
            </a:scheme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ARQUITECTURA MVC + DAO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651760" cy="3886200"/>
          </a:xfrm>
          <a:prstGeom prst="roundRect">
            <a:avLst>
              <a:gd name="adj" fmla="val 3448"/>
            </a:avLst>
          </a:prstGeom>
          <a:solidFill>
            <a:srgbClr val="1A3A6B"/>
          </a:solidFill>
          <a:ln w="254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651760" cy="2286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14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Swing</a:t>
            </a:r>
            <a:endParaRPr lang="en-US" sz="1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TelaLogin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TelaPrincipal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TelaPacientes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TelaConsultas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TelaProntuarios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TelaRelatorios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2743200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868680"/>
            <a:ext cx="2651760" cy="3886200"/>
          </a:xfrm>
          <a:prstGeom prst="roundRect">
            <a:avLst>
              <a:gd name="adj" fmla="val 3448"/>
            </a:avLst>
          </a:prstGeom>
          <a:solidFill>
            <a:srgbClr val="1A3A6B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6868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234440"/>
            <a:ext cx="265176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914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CONTROLLER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160020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controlo</a:t>
            </a:r>
            <a:endParaRPr lang="en-US" sz="1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UsuarioController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PacienteController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MedicoController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ConsultaController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ProntuarioController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97880" y="2743200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868680"/>
            <a:ext cx="2651760" cy="3886200"/>
          </a:xfrm>
          <a:prstGeom prst="roundRect">
            <a:avLst>
              <a:gd name="adj" fmla="val 3448"/>
            </a:avLst>
          </a:prstGeom>
          <a:solidFill>
            <a:srgbClr val="1A3A6B"/>
          </a:solidFill>
          <a:ln w="254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6868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234440"/>
            <a:ext cx="2651760" cy="228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914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DAO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160020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+ JDBC</a:t>
            </a:r>
            <a:endParaRPr lang="en-US" sz="1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Paciente</a:t>
            </a: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Medico, Consulta</a:t>
            </a: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Prontuario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 com PreparedStatement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 |  </a:t>
            </a:r>
            <a:r>
              <a:rPr lang="en-US" sz="900" dirty="0" smtClea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</a:t>
            </a: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Programação VI  |  5/10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  <p:bldP spid="16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MODELO DE DADOS (MER)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8E44AD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5603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5603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16A085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prontuarios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7360" y="3776472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25362" y="40632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776472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4041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pront_medicamentos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709160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-45720" y="47581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 |  </a:t>
            </a:r>
            <a:r>
              <a:rPr lang="en-US" sz="900" dirty="0" smtClea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</a:t>
            </a: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Programação VI  |  6/10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TECNOLOGIAS UTILIZADAS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A3A6B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042169"/>
            <a:ext cx="731520" cy="7315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r>
              <a:rPr lang="pt-BR" sz="4000" b="1" dirty="0" smtClean="0">
                <a:solidFill>
                  <a:schemeClr val="bg1"/>
                </a:solidFill>
              </a:rPr>
              <a:t>1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21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principal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OpenJDK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A3A6B"/>
          </a:solidFill>
          <a:ln w="254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PT" dirty="0"/>
          </a:p>
        </p:txBody>
      </p:sp>
      <p:sp>
        <p:nvSpPr>
          <p:cNvPr id="11" name="Shape 9"/>
          <p:cNvSpPr/>
          <p:nvPr/>
        </p:nvSpPr>
        <p:spPr>
          <a:xfrm>
            <a:off x="3108960" y="100584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pt-BR" sz="4000" b="1" dirty="0" smtClean="0">
                <a:solidFill>
                  <a:schemeClr val="bg1"/>
                </a:solidFill>
              </a:rPr>
              <a:t>2</a:t>
            </a:r>
            <a:endParaRPr lang="pt-PT" sz="4000" b="1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603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gráfica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nativa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A3A6B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1005840"/>
            <a:ext cx="731520" cy="731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r>
              <a:rPr lang="pt-BR" sz="4000" b="1" dirty="0" smtClean="0">
                <a:solidFill>
                  <a:schemeClr val="bg1"/>
                </a:solidFill>
              </a:rPr>
              <a:t>3</a:t>
            </a:r>
            <a:endParaRPr lang="pt-PT" sz="4000" b="1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488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9144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A3A6B"/>
          </a:solidFill>
          <a:ln w="254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0" y="1005840"/>
            <a:ext cx="731520" cy="73152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r>
              <a:rPr lang="pt-BR" sz="4000" b="1" dirty="0" smtClean="0">
                <a:solidFill>
                  <a:schemeClr val="bg1"/>
                </a:solidFill>
              </a:rPr>
              <a:t>4</a:t>
            </a:r>
            <a:endParaRPr lang="pt-PT" sz="4000" b="1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494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↔ MySQL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A3A6B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3017520"/>
            <a:ext cx="731520" cy="731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r>
              <a:rPr lang="pt-BR" sz="4000" b="1" dirty="0">
                <a:solidFill>
                  <a:schemeClr val="bg1"/>
                </a:solidFill>
              </a:rPr>
              <a:t>5</a:t>
            </a:r>
            <a:endParaRPr lang="pt-PT" sz="4000" b="1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Connector/J 9.7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JDBC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oficial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A3A6B"/>
          </a:solidFill>
          <a:ln w="254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3017520"/>
            <a:ext cx="731520" cy="73152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r>
              <a:rPr lang="pt-BR" sz="4000" b="1" dirty="0" smtClean="0">
                <a:solidFill>
                  <a:schemeClr val="bg1"/>
                </a:solidFill>
              </a:rPr>
              <a:t>6</a:t>
            </a:r>
            <a:endParaRPr lang="pt-PT" sz="4000" b="1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256032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56032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A3A6B"/>
          </a:solidFill>
          <a:ln w="254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03520" y="3017520"/>
            <a:ext cx="731520" cy="73152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r>
              <a:rPr lang="pt-BR" sz="4000" b="1" dirty="0" smtClean="0">
                <a:solidFill>
                  <a:schemeClr val="bg1"/>
                </a:solidFill>
              </a:rPr>
              <a:t>7</a:t>
            </a:r>
            <a:endParaRPr lang="pt-PT" sz="4000" b="1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5488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5488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Git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29260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A3A6B"/>
          </a:solidFill>
          <a:ln w="25400">
            <a:solidFill>
              <a:srgbClr val="7F8C8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0" y="3017520"/>
            <a:ext cx="731520" cy="731520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r>
              <a:rPr lang="pt-BR" sz="4000" b="1" dirty="0" smtClean="0">
                <a:solidFill>
                  <a:schemeClr val="bg1"/>
                </a:solidFill>
              </a:rPr>
              <a:t>8</a:t>
            </a:r>
            <a:endParaRPr lang="pt-PT" sz="4000" b="1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4944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seguro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senhas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 |  </a:t>
            </a:r>
            <a:r>
              <a:rPr lang="en-US" sz="900" dirty="0" smtClea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</a:t>
            </a: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Programação VI  |  7/10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IMPLEMENTAÇÃO E SEGURANÇA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91440" cy="1691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Controlo de Acesso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acesso total ao sistema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Recepcionista: pacientes e consultas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Médico: consultas e prontuários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com hash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9144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Anti SQL Injection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 em todas as queries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tipados e validados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concatenação de strings SQL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nunca em texto puro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63240"/>
            <a:ext cx="91440" cy="1691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72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Singleton + DAO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ConexaoDB: uma única conexão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DAOGenerico&lt;T&gt;: interface CRUD base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entidade tem seu DAO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JDBC isolado das regras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63240"/>
            <a:ext cx="91440" cy="1691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72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Conflito de Horários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52044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no código Java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UNIQUE(medico_id, data_hora) no BD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de integridade dupla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erro ao utilizador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 |  </a:t>
            </a:r>
            <a:r>
              <a:rPr lang="en-US" sz="900" dirty="0" smtClea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</a:t>
            </a: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Programação VI  |  8/10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DEMONSTRAÇÃO DO SISTEMA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 w="254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com 3 perfis de acesso distintos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com acesso por perfil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1228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com pesquisa em tempo real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 w="254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611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com cores por status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8620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611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por paciente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 w="254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1228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3611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tipos: médico, pacientes, status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 |  </a:t>
            </a:r>
            <a:r>
              <a:rPr lang="en-US" sz="900" dirty="0" smtClea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</a:t>
            </a: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VI  |  9/10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2286000"/>
            <a:ext cx="6400800" cy="640080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610" y="23717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 smtClean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402336"/>
          </a:xfrm>
          <a:prstGeom prst="roundRect">
            <a:avLst>
              <a:gd name="adj" fmla="val 11364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Todos os requisitos funcionais implementados com sucesso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55848"/>
            <a:ext cx="8229600" cy="402336"/>
          </a:xfrm>
          <a:prstGeom prst="roundRect">
            <a:avLst>
              <a:gd name="adj" fmla="val 11364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015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Padrões MVC + DAO aplicados rigorosamente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831336"/>
            <a:ext cx="8229600" cy="402336"/>
          </a:xfrm>
          <a:prstGeom prst="roundRect">
            <a:avLst>
              <a:gd name="adj" fmla="val 11364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7705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Sistema estável, seguro e com interface intuitiva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306824"/>
            <a:ext cx="8229600" cy="402336"/>
          </a:xfrm>
          <a:prstGeom prst="roundRect">
            <a:avLst>
              <a:gd name="adj" fmla="val 11364"/>
            </a:avLst>
          </a:prstGeom>
          <a:solidFill>
            <a:srgbClr val="1A3A6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5254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Base de dados normalizada com 8 tabelas relacionadas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 |  </a:t>
            </a:r>
            <a:r>
              <a:rPr lang="en-US" sz="900" dirty="0" smtClea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</a:t>
            </a: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Programação VI  |  2026</a:t>
            </a:r>
            <a:endParaRPr lang="en-US" sz="900" dirty="0"/>
          </a:p>
        </p:txBody>
      </p:sp>
      <p:sp>
        <p:nvSpPr>
          <p:cNvPr id="16" name="Retângulo 15"/>
          <p:cNvSpPr/>
          <p:nvPr/>
        </p:nvSpPr>
        <p:spPr>
          <a:xfrm>
            <a:off x="255181" y="784585"/>
            <a:ext cx="86144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bg1"/>
                </a:solidFill>
                <a:ea typeface="Arial" panose="020B0604020202020204" pitchFamily="34" charset="0"/>
              </a:rPr>
              <a:t>O Sistema de Gestão de Clínica Médica foi desenvolvido com sucesso, cumprindo todos os requisitos funcionais e não funcionais estabelecidos no enunciado do trabalho. A aplicação demonstra a aplicação prática dos conceitos teóricos da disciplina, nomeadamente a Programação Orientada a </a:t>
            </a:r>
            <a:r>
              <a:rPr lang="pt-PT" dirty="0" smtClean="0">
                <a:solidFill>
                  <a:schemeClr val="bg1"/>
                </a:solidFill>
                <a:ea typeface="Arial" panose="020B0604020202020204" pitchFamily="34" charset="0"/>
              </a:rPr>
              <a:t>Objectos.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7" name="Shape 3"/>
          <p:cNvSpPr/>
          <p:nvPr/>
        </p:nvSpPr>
        <p:spPr>
          <a:xfrm>
            <a:off x="3200400" y="2103120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2286000"/>
            <a:ext cx="6400800" cy="640080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  <a:effectLst>
            <a:outerShdw blurRad="190500" dist="63500" dir="81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3200400" y="2103120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 |  </a:t>
            </a:r>
            <a:r>
              <a:rPr lang="en-US" sz="900" dirty="0" smtClea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</a:t>
            </a: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VI  | 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733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671</Words>
  <Application>Microsoft Office PowerPoint</Application>
  <PresentationFormat>Apresentação no Ecrã (16:9)</PresentationFormat>
  <Paragraphs>183</Paragraphs>
  <Slides>11</Slides>
  <Notes>11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Gestão de Clínica Médica</dc:title>
  <dc:subject>PptxGenJS Presentation</dc:subject>
  <dc:creator>PptxGenJS</dc:creator>
  <cp:lastModifiedBy>HP</cp:lastModifiedBy>
  <cp:revision>10</cp:revision>
  <dcterms:created xsi:type="dcterms:W3CDTF">2026-06-07T12:39:21Z</dcterms:created>
  <dcterms:modified xsi:type="dcterms:W3CDTF">2026-06-16T12:02:11Z</dcterms:modified>
</cp:coreProperties>
</file>